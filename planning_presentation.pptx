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70" r:id="rId4"/>
    <p:sldId id="264" r:id="rId5"/>
    <p:sldId id="265" r:id="rId6"/>
    <p:sldId id="266" r:id="rId7"/>
    <p:sldId id="267" r:id="rId8"/>
    <p:sldId id="268" r:id="rId9"/>
    <p:sldId id="269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C5E36-540E-473C-BBF0-8EB75945E609}" v="4" dt="2025-10-30T15:06:45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8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kh Sinha" userId="9b459ac71d7280be" providerId="LiveId" clId="{90689358-0ECB-42CF-AB88-A4926418B81F}"/>
    <pc:docChg chg="undo custSel modSld">
      <pc:chgData name="Mayukh Sinha" userId="9b459ac71d7280be" providerId="LiveId" clId="{90689358-0ECB-42CF-AB88-A4926418B81F}" dt="2025-10-30T15:06:45.543" v="20"/>
      <pc:docMkLst>
        <pc:docMk/>
      </pc:docMkLst>
      <pc:sldChg chg="modSp">
        <pc:chgData name="Mayukh Sinha" userId="9b459ac71d7280be" providerId="LiveId" clId="{90689358-0ECB-42CF-AB88-A4926418B81F}" dt="2025-10-30T15:06:45.543" v="20"/>
        <pc:sldMkLst>
          <pc:docMk/>
          <pc:sldMk cId="0" sldId="257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yukh Sinha" userId="9b459ac71d7280be" providerId="LiveId" clId="{90689358-0ECB-42CF-AB88-A4926418B81F}" dt="2025-10-30T15:06:45.543" v="20"/>
        <pc:sldMkLst>
          <pc:docMk/>
          <pc:sldMk cId="2549353414" sldId="264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2549353414" sldId="264"/>
            <ac:spMk id="2" creationId="{BC15212F-42F5-164C-9CB0-D7C12D4926C0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2549353414" sldId="264"/>
            <ac:spMk id="3" creationId="{0DBA16E8-60CE-5940-C8CF-18C5FC487DD3}"/>
          </ac:spMkLst>
        </pc:spChg>
      </pc:sldChg>
      <pc:sldChg chg="modSp mod">
        <pc:chgData name="Mayukh Sinha" userId="9b459ac71d7280be" providerId="LiveId" clId="{90689358-0ECB-42CF-AB88-A4926418B81F}" dt="2025-10-30T15:06:45.543" v="20"/>
        <pc:sldMkLst>
          <pc:docMk/>
          <pc:sldMk cId="332693808" sldId="265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332693808" sldId="265"/>
            <ac:spMk id="2" creationId="{3B59F825-7E56-0F94-6F1D-19720C095EAF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332693808" sldId="265"/>
            <ac:spMk id="3" creationId="{7FBC09D4-FDE4-793C-54C7-E9376B15E659}"/>
          </ac:spMkLst>
        </pc:spChg>
      </pc:sldChg>
      <pc:sldChg chg="modSp">
        <pc:chgData name="Mayukh Sinha" userId="9b459ac71d7280be" providerId="LiveId" clId="{90689358-0ECB-42CF-AB88-A4926418B81F}" dt="2025-10-30T15:06:45.543" v="20"/>
        <pc:sldMkLst>
          <pc:docMk/>
          <pc:sldMk cId="3234699559" sldId="266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3234699559" sldId="266"/>
            <ac:spMk id="2" creationId="{F1BEB747-D18F-1B6E-E00B-66E0EB309813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3234699559" sldId="266"/>
            <ac:spMk id="3" creationId="{AD13DCA4-8B28-E27B-2142-ECD188C3C60E}"/>
          </ac:spMkLst>
        </pc:spChg>
      </pc:sldChg>
      <pc:sldChg chg="modSp">
        <pc:chgData name="Mayukh Sinha" userId="9b459ac71d7280be" providerId="LiveId" clId="{90689358-0ECB-42CF-AB88-A4926418B81F}" dt="2025-10-30T15:06:45.543" v="20"/>
        <pc:sldMkLst>
          <pc:docMk/>
          <pc:sldMk cId="3875037669" sldId="267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3875037669" sldId="267"/>
            <ac:spMk id="2" creationId="{09FAB724-8B74-9B16-D197-B1D747084F97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3875037669" sldId="267"/>
            <ac:spMk id="3" creationId="{B4E2C835-53F9-FCFD-0244-564DE503A432}"/>
          </ac:spMkLst>
        </pc:spChg>
      </pc:sldChg>
      <pc:sldChg chg="modSp mod">
        <pc:chgData name="Mayukh Sinha" userId="9b459ac71d7280be" providerId="LiveId" clId="{90689358-0ECB-42CF-AB88-A4926418B81F}" dt="2025-10-30T15:06:45.543" v="20"/>
        <pc:sldMkLst>
          <pc:docMk/>
          <pc:sldMk cId="3761669726" sldId="268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3761669726" sldId="268"/>
            <ac:spMk id="2" creationId="{19DA08EA-C7E4-0A77-84CD-C6814951CD34}"/>
          </ac:spMkLst>
        </pc:spChg>
        <pc:picChg chg="mod">
          <ac:chgData name="Mayukh Sinha" userId="9b459ac71d7280be" providerId="LiveId" clId="{90689358-0ECB-42CF-AB88-A4926418B81F}" dt="2025-10-30T15:06:45.543" v="20"/>
          <ac:picMkLst>
            <pc:docMk/>
            <pc:sldMk cId="3761669726" sldId="268"/>
            <ac:picMk id="5" creationId="{95DE17B6-67C2-532D-B23C-87990596A152}"/>
          </ac:picMkLst>
        </pc:picChg>
      </pc:sldChg>
      <pc:sldChg chg="modSp mod">
        <pc:chgData name="Mayukh Sinha" userId="9b459ac71d7280be" providerId="LiveId" clId="{90689358-0ECB-42CF-AB88-A4926418B81F}" dt="2025-10-30T15:06:45.543" v="20"/>
        <pc:sldMkLst>
          <pc:docMk/>
          <pc:sldMk cId="3389281531" sldId="269"/>
        </pc:sldMkLst>
        <pc:spChg chg="mod">
          <ac:chgData name="Mayukh Sinha" userId="9b459ac71d7280be" providerId="LiveId" clId="{90689358-0ECB-42CF-AB88-A4926418B81F}" dt="2025-10-30T15:06:45.543" v="20"/>
          <ac:spMkLst>
            <pc:docMk/>
            <pc:sldMk cId="3389281531" sldId="269"/>
            <ac:spMk id="2" creationId="{2D5D656B-ADD5-862C-F385-E228AE6E3CD6}"/>
          </ac:spMkLst>
        </pc:spChg>
        <pc:spChg chg="mod">
          <ac:chgData name="Mayukh Sinha" userId="9b459ac71d7280be" providerId="LiveId" clId="{90689358-0ECB-42CF-AB88-A4926418B81F}" dt="2025-10-30T15:06:45.543" v="20"/>
          <ac:spMkLst>
            <pc:docMk/>
            <pc:sldMk cId="3389281531" sldId="269"/>
            <ac:spMk id="3" creationId="{43E6494C-AA63-52B9-4497-3909878A8B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9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2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7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3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4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3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4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23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609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74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0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35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31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4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9352" y="843215"/>
            <a:ext cx="8844455" cy="1143000"/>
          </a:xfrm>
        </p:spPr>
        <p:txBody>
          <a:bodyPr>
            <a:noAutofit/>
          </a:bodyPr>
          <a:lstStyle/>
          <a:p>
            <a:r>
              <a:rPr dirty="0"/>
              <a:t>Distributed Web </a:t>
            </a:r>
            <a:br>
              <a:rPr lang="en-US" dirty="0"/>
            </a:br>
            <a:r>
              <a:rPr dirty="0"/>
              <a:t>Crawler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651775"/>
            <a:ext cx="7886700" cy="25251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Team members</a:t>
            </a:r>
            <a:r>
              <a:rPr dirty="0"/>
              <a:t>: Stanley Li</a:t>
            </a:r>
            <a:r>
              <a:rPr lang="en-US" dirty="0"/>
              <a:t>, Mayukh Sinha</a:t>
            </a:r>
          </a:p>
          <a:p>
            <a:r>
              <a:rPr lang="en-US" dirty="0"/>
              <a:t>Course: CSYE7200</a:t>
            </a:r>
            <a:endParaRPr dirty="0"/>
          </a:p>
          <a:p>
            <a:r>
              <a:rPr dirty="0"/>
              <a:t>Tech Stack: Scala</a:t>
            </a:r>
            <a:r>
              <a:rPr lang="en-US" dirty="0"/>
              <a:t>, </a:t>
            </a:r>
            <a:r>
              <a:rPr dirty="0"/>
              <a:t>Apache Pekko</a:t>
            </a:r>
            <a:r>
              <a:rPr lang="en-TW" dirty="0"/>
              <a:t>, </a:t>
            </a:r>
            <a:r>
              <a:rPr dirty="0"/>
              <a:t>Apache Kafka</a:t>
            </a:r>
            <a:endParaRPr lang="en-US" dirty="0"/>
          </a:p>
          <a:p>
            <a:r>
              <a:rPr lang="en-US" dirty="0"/>
              <a:t>Date: October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Challenges in Traditional Web Crawling: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Limited scalability (single-machine or thread-based crawlers)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Hard to handle millions of URLs dynamically</a:t>
            </a:r>
          </a:p>
          <a:p>
            <a:r>
              <a:rPr dirty="0"/>
              <a:t>Goal: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Build a distributed, event-driven, and resilient crawling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C204-69EF-6BE0-60DA-6133A053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Use cases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A6CE-8EE5-6213-5A09-165A2B815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Large-Scale Data Collection</a:t>
            </a:r>
          </a:p>
          <a:p>
            <a:pPr lvl="1">
              <a:buFontTx/>
              <a:buChar char="-"/>
            </a:pPr>
            <a:r>
              <a:rPr lang="en-US" dirty="0"/>
              <a:t>A data engineer needs to collect millions of web pages daily from multiple domains for downstream analytics or NLP model training.</a:t>
            </a:r>
          </a:p>
          <a:p>
            <a:pPr lvl="1">
              <a:buFontTx/>
              <a:buChar char="-"/>
            </a:pPr>
            <a:r>
              <a:rPr lang="en-US" dirty="0"/>
              <a:t>Unlike single-machine crawlers, our system scales horizontally , simply add more worker nodes to increase throughput without downtime.</a:t>
            </a:r>
          </a:p>
          <a:p>
            <a:r>
              <a:rPr lang="en-US" dirty="0"/>
              <a:t>2. Real-Time Web Monitoring</a:t>
            </a:r>
          </a:p>
          <a:p>
            <a:pPr lvl="1">
              <a:buFontTx/>
              <a:buChar char="-"/>
            </a:pPr>
            <a:r>
              <a:rPr lang="en-US" dirty="0"/>
              <a:t>A business analyst needs to monitor competitors’ websites for price or content changes in real time.</a:t>
            </a:r>
          </a:p>
          <a:p>
            <a:pPr lvl="1">
              <a:buFontTx/>
              <a:buChar char="-"/>
            </a:pPr>
            <a:r>
              <a:rPr lang="en-US" dirty="0"/>
              <a:t>It provides faster insights, helping businesses respond to market changes immediately.</a:t>
            </a:r>
          </a:p>
          <a:p>
            <a:pPr lvl="1">
              <a:buFontTx/>
              <a:buChar char="-"/>
            </a:pPr>
            <a:r>
              <a:rPr lang="en-US" dirty="0"/>
              <a:t>Real-time competitive intelligence drives quicker decision-making and better business agility.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4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212F-42F5-164C-9CB0-D7C12D49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Pekko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A16E8-60CE-5940-C8CF-18C5FC487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Pekko = The Distributed Brain of the Crawler</a:t>
            </a:r>
          </a:p>
          <a:p>
            <a:r>
              <a:rPr lang="en-US" dirty="0"/>
              <a:t>Web crawling is a highly concurrent and I/O-intensive workload that requires managing thousands of parallel tasks.</a:t>
            </a:r>
          </a:p>
          <a:p>
            <a:r>
              <a:rPr lang="en-US" dirty="0"/>
              <a:t>Traditional multithreading models are hard to scale and difficult to coordinate across multiple nodes.</a:t>
            </a:r>
          </a:p>
          <a:p>
            <a:r>
              <a:rPr lang="en-US" dirty="0"/>
              <a:t>Pekko’s Actor Model abstracts each crawling task into an independent, message-driven actor, replacing shared state with asynchronous message passing.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54935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F825-7E56-0F94-6F1D-19720C09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Master–Worker Architecture (using Pekko Actors)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C09D4-FDE4-793C-54C7-E9376B15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MasterActor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	-</a:t>
            </a:r>
            <a:r>
              <a:rPr lang="zh-TW" altLang="en-US" dirty="0"/>
              <a:t> </a:t>
            </a:r>
            <a:r>
              <a:rPr lang="en-US" dirty="0"/>
              <a:t>Generates and publishes new URLs or crawl tasks into the Kafka task topic</a:t>
            </a:r>
            <a:r>
              <a:rPr lang="en-US" altLang="zh-TW" dirty="0"/>
              <a:t>.</a:t>
            </a:r>
          </a:p>
          <a:p>
            <a:r>
              <a:rPr lang="en-US" altLang="zh-TW" dirty="0" err="1"/>
              <a:t>WorkerActors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dirty="0"/>
              <a:t>Consume tasks (URLs) from Kafka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dirty="0"/>
              <a:t>Perform the actual web fetching and HTML parsing</a:t>
            </a:r>
          </a:p>
          <a:p>
            <a:pPr marL="0" indent="0">
              <a:buNone/>
            </a:pPr>
            <a:r>
              <a:rPr lang="en-US" altLang="zh-TW" dirty="0"/>
              <a:t>	-</a:t>
            </a:r>
            <a:r>
              <a:rPr lang="zh-TW" altLang="en-US" dirty="0"/>
              <a:t> </a:t>
            </a:r>
            <a:r>
              <a:rPr lang="en-US" dirty="0"/>
              <a:t>Send parsed results or extracted links back to Kafka for further processing</a:t>
            </a:r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269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B747-D18F-1B6E-E00B-66E0EB30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Kafka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3DCA4-8B28-E27B-2142-ECD188C3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High-throughput message queue for distributed systems</a:t>
            </a:r>
            <a:r>
              <a:rPr lang="en-US" altLang="zh-TW" dirty="0"/>
              <a:t>.</a:t>
            </a:r>
          </a:p>
          <a:p>
            <a:r>
              <a:rPr lang="en-US" dirty="0"/>
              <a:t>Decouples producer (Master) and consumer (Workers)</a:t>
            </a:r>
            <a:r>
              <a:rPr lang="en-US" altLang="zh-TW" dirty="0"/>
              <a:t>.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23469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B724-8B74-9B16-D197-B1D74708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In Web Crawler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C835-53F9-FCFD-0244-564DE503A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Master publishes pending URLs into the Kafka topic </a:t>
            </a:r>
            <a:r>
              <a:rPr lang="en-US" dirty="0" err="1"/>
              <a:t>crawl_tasks</a:t>
            </a:r>
            <a:r>
              <a:rPr lang="en-US" dirty="0"/>
              <a:t>.</a:t>
            </a:r>
          </a:p>
          <a:p>
            <a:r>
              <a:rPr lang="en-US" dirty="0"/>
              <a:t>Workers consume tasks from Kafka, execute the crawl, and send the results to the </a:t>
            </a:r>
            <a:r>
              <a:rPr lang="en-US" dirty="0" err="1"/>
              <a:t>crawl_results</a:t>
            </a:r>
            <a:r>
              <a:rPr lang="en-US" dirty="0"/>
              <a:t> topic.</a:t>
            </a:r>
          </a:p>
          <a:p>
            <a:r>
              <a:rPr lang="en-US" dirty="0"/>
              <a:t>Kafka provides task buffering, and flow control across the entire pipeline.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87503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08EA-C7E4-0A77-84CD-C6814951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Framework </a:t>
            </a:r>
            <a:r>
              <a:rPr lang="en-US" dirty="0"/>
              <a:t>Architecture Overview</a:t>
            </a:r>
            <a:endParaRPr lang="en-TW" dirty="0"/>
          </a:p>
        </p:txBody>
      </p:sp>
      <p:pic>
        <p:nvPicPr>
          <p:cNvPr id="5" name="Content Placeholder 4" descr="A diagram of a workflow&#10;&#10;AI-generated content may be incorrect.">
            <a:extLst>
              <a:ext uri="{FF2B5EF4-FFF2-40B4-BE49-F238E27FC236}">
                <a16:creationId xmlns:a16="http://schemas.microsoft.com/office/drawing/2014/main" id="{95DE17B6-67C2-532D-B23C-87990596A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478" y="2193925"/>
            <a:ext cx="6047043" cy="4070350"/>
          </a:xfrm>
        </p:spPr>
      </p:pic>
    </p:spTree>
    <p:extLst>
      <p:ext uri="{BB962C8B-B14F-4D97-AF65-F5344CB8AC3E}">
        <p14:creationId xmlns:p14="http://schemas.microsoft.com/office/powerpoint/2010/main" val="376166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656B-ADD5-862C-F385-E228AE6E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&amp;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494C-AA63-52B9-4497-3909878A8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next few weeks, here’s how we plan to proceed:</a:t>
            </a:r>
          </a:p>
          <a:p>
            <a:r>
              <a:rPr lang="en-US" b="1" dirty="0"/>
              <a:t>Week 1:</a:t>
            </a:r>
            <a:r>
              <a:rPr lang="en-US" dirty="0"/>
              <a:t> Set up the Kafka and Pekko environments, and define the basic Master–Worker actor communication.</a:t>
            </a:r>
          </a:p>
          <a:p>
            <a:r>
              <a:rPr lang="en-US" b="1" dirty="0"/>
              <a:t>Week 2:</a:t>
            </a:r>
            <a:r>
              <a:rPr lang="en-US" dirty="0"/>
              <a:t> Implement the crawling logic and integrate HTML parsing.</a:t>
            </a:r>
          </a:p>
          <a:p>
            <a:r>
              <a:rPr lang="en-US" b="1" dirty="0"/>
              <a:t>Week 3:</a:t>
            </a:r>
            <a:r>
              <a:rPr lang="en-US" dirty="0"/>
              <a:t> Add result collection and metrics monitoring.</a:t>
            </a:r>
          </a:p>
          <a:p>
            <a:r>
              <a:rPr lang="en-US" b="1"/>
              <a:t>Week 4:</a:t>
            </a:r>
            <a:r>
              <a:rPr lang="en-US"/>
              <a:t> </a:t>
            </a:r>
            <a:r>
              <a:rPr lang="en-US" dirty="0"/>
              <a:t>Run scalability tests and prepare our final report and demo.</a:t>
            </a:r>
          </a:p>
          <a:p>
            <a:r>
              <a:rPr lang="en-US" dirty="0"/>
              <a:t>By the end, we’ll have a distributed web crawler that can be extended for real-world use — like news aggregation or web indexing.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281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52312"/>
            <a:ext cx="8686800" cy="1868558"/>
          </a:xfrm>
        </p:spPr>
        <p:txBody>
          <a:bodyPr>
            <a:noAutofit/>
          </a:bodyPr>
          <a:lstStyle/>
          <a:p>
            <a:r>
              <a:rPr lang="en-US" dirty="0"/>
              <a:t>Acceptance Criteria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3C6AF7-CB71-EAD6-AE45-AFFC4937D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295238"/>
              </p:ext>
            </p:extLst>
          </p:nvPr>
        </p:nvGraphicFramePr>
        <p:xfrm>
          <a:off x="0" y="2367156"/>
          <a:ext cx="9007365" cy="3928540"/>
        </p:xfrm>
        <a:graphic>
          <a:graphicData uri="http://schemas.openxmlformats.org/drawingml/2006/table">
            <a:tbl>
              <a:tblPr/>
              <a:tblGrid>
                <a:gridCol w="3121891">
                  <a:extLst>
                    <a:ext uri="{9D8B030D-6E8A-4147-A177-3AD203B41FA5}">
                      <a16:colId xmlns:a16="http://schemas.microsoft.com/office/drawing/2014/main" val="141137556"/>
                    </a:ext>
                  </a:extLst>
                </a:gridCol>
                <a:gridCol w="2942737">
                  <a:extLst>
                    <a:ext uri="{9D8B030D-6E8A-4147-A177-3AD203B41FA5}">
                      <a16:colId xmlns:a16="http://schemas.microsoft.com/office/drawing/2014/main" val="1203558627"/>
                    </a:ext>
                  </a:extLst>
                </a:gridCol>
                <a:gridCol w="2942737">
                  <a:extLst>
                    <a:ext uri="{9D8B030D-6E8A-4147-A177-3AD203B41FA5}">
                      <a16:colId xmlns:a16="http://schemas.microsoft.com/office/drawing/2014/main" val="1111670092"/>
                    </a:ext>
                  </a:extLst>
                </a:gridCol>
              </a:tblGrid>
              <a:tr h="40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Criterion (Quantitative Target)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224688"/>
                  </a:ext>
                </a:extLst>
              </a:tr>
              <a:tr h="109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Throughput (pages/sec)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system should crawl </a:t>
                      </a:r>
                      <a:r>
                        <a:rPr lang="en-US" sz="1400" b="1" dirty="0"/>
                        <a:t>between 300 and 600 pages per second</a:t>
                      </a:r>
                      <a:r>
                        <a:rPr lang="en-US" sz="1400" dirty="0"/>
                        <a:t> under a 10-worker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Measure overall system capacity.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514514"/>
                  </a:ext>
                </a:extLst>
              </a:tr>
              <a:tr h="133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Average Latency (</a:t>
                      </a:r>
                      <a:r>
                        <a:rPr lang="en-US" sz="1400" b="1" dirty="0" err="1"/>
                        <a:t>ms</a:t>
                      </a:r>
                      <a:r>
                        <a:rPr lang="en-US" sz="1400" b="1" dirty="0"/>
                        <a:t>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average time from task dispatch to completion should remain below </a:t>
                      </a:r>
                      <a:r>
                        <a:rPr lang="en-US" sz="1400" b="1" dirty="0"/>
                        <a:t>900 </a:t>
                      </a:r>
                      <a:r>
                        <a:rPr lang="en-US" sz="1400" b="1" dirty="0" err="1"/>
                        <a:t>ms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dirty="0"/>
                        <a:t>when the system sustains 300–500 pages per second.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Evaluate system responsiveness.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244150"/>
                  </a:ext>
                </a:extLst>
              </a:tr>
              <a:tr h="109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Speed-up Ratio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When scaling from 5 to 20 workers, throughput should increase by </a:t>
                      </a:r>
                      <a:r>
                        <a:rPr lang="en-US" sz="1400" b="1" dirty="0"/>
                        <a:t>at least 3×</a:t>
                      </a:r>
                      <a:r>
                        <a:rPr lang="en-US" sz="1400" dirty="0"/>
                        <a:t> (Speed-up ≥ 3.0).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Measure horizontal scalability.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772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1078</TotalTime>
  <Words>565</Words>
  <Application>Microsoft Macintosh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Distributed Web  Crawler Framework</vt:lpstr>
      <vt:lpstr>Motivation &amp; Problem Statement</vt:lpstr>
      <vt:lpstr>Use cases</vt:lpstr>
      <vt:lpstr>Why Use Pekko</vt:lpstr>
      <vt:lpstr>Master–Worker Architecture (using Pekko Actors)</vt:lpstr>
      <vt:lpstr>Why Use Kafka</vt:lpstr>
      <vt:lpstr>Kafka In Web Crawler Framework</vt:lpstr>
      <vt:lpstr>Framework Architecture Overview</vt:lpstr>
      <vt:lpstr>Next Steps &amp; Timeline</vt:lpstr>
      <vt:lpstr>Acceptance Criteria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Mayukh Sinha</dc:creator>
  <cp:keywords/>
  <dc:description>generated using python-pptx</dc:description>
  <cp:lastModifiedBy>Stanley Li</cp:lastModifiedBy>
  <cp:revision>8</cp:revision>
  <dcterms:created xsi:type="dcterms:W3CDTF">2013-01-27T09:14:16Z</dcterms:created>
  <dcterms:modified xsi:type="dcterms:W3CDTF">2025-11-03T01:36:45Z</dcterms:modified>
  <cp:category/>
</cp:coreProperties>
</file>